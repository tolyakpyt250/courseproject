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5" r:id="rId8"/>
    <p:sldId id="264" r:id="rId9"/>
    <p:sldId id="260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99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330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89815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7029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3646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250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3568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74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73393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6572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6185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4636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0312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0901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114425"/>
            <a:ext cx="12192000" cy="2543175"/>
          </a:xfrm>
          <a:prstGeom prst="rect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6" name="Прямоугольник с одним вырезанным углом 5"/>
          <p:cNvSpPr/>
          <p:nvPr/>
        </p:nvSpPr>
        <p:spPr>
          <a:xfrm flipH="1">
            <a:off x="5448296" y="3860800"/>
            <a:ext cx="6743703" cy="2793999"/>
          </a:xfrm>
          <a:prstGeom prst="snip1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с одним вырезанным углом 4"/>
          <p:cNvSpPr/>
          <p:nvPr/>
        </p:nvSpPr>
        <p:spPr>
          <a:xfrm flipH="1">
            <a:off x="5648324" y="4010025"/>
            <a:ext cx="6543673" cy="2371725"/>
          </a:xfrm>
          <a:prstGeom prst="snip1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304925"/>
            <a:ext cx="12192000" cy="2209800"/>
          </a:xfrm>
          <a:prstGeom prst="rect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421465"/>
            <a:ext cx="12192000" cy="1874185"/>
          </a:xfrm>
        </p:spPr>
        <p:txBody>
          <a:bodyPr anchor="ctr">
            <a:noAutofit/>
          </a:bodyPr>
          <a:lstStyle/>
          <a:p>
            <a:r>
              <a:rPr lang="ru-RU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Курсовой проект</a:t>
            </a:r>
            <a:br>
              <a:rPr lang="ru-RU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Разработка базы данных информационной системы «Расписание в вузе»</a:t>
            </a:r>
            <a:endParaRPr lang="ru-RU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19800" y="4204162"/>
            <a:ext cx="6172200" cy="2082338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По </a:t>
            </a:r>
            <a:r>
              <a:rPr lang="ru-RU" dirty="0" smtClean="0">
                <a:solidFill>
                  <a:schemeClr val="bg1"/>
                </a:solidFill>
              </a:rPr>
              <a:t>дисциплине «Технология разработки и защиты баз данных»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Выполнил: Шаяхметов Анатолий Рамисович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Группа: ИСП-Б-234-2024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Руководитель: Шадрин Евгений Николаевич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616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 rot="2269930">
            <a:off x="-2128129" y="2575284"/>
            <a:ext cx="16421568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 rot="2269930">
            <a:off x="-2079353" y="2980264"/>
            <a:ext cx="16421568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29301" y="0"/>
            <a:ext cx="6362699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5400"/>
              </a:lnSpc>
            </a:pPr>
            <a:r>
              <a:rPr lang="ru-RU" sz="2800" b="1" dirty="0" smtClean="0">
                <a:ea typeface="Source Sans Pro Black" panose="020B0803030403020204" pitchFamily="34" charset="0"/>
                <a:cs typeface="Spline Sans Bold" pitchFamily="34" charset="-120"/>
              </a:rPr>
              <a:t>Цель, Объект и Предмет исследования </a:t>
            </a:r>
            <a:endParaRPr lang="ru-RU" sz="2800" b="1" dirty="0">
              <a:ea typeface="Source Sans Pro Black" panose="020B0803030403020204" pitchFamily="34" charset="0"/>
              <a:cs typeface="Spline Sans Bold" pitchFamily="34" charset="-12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66189" y="942415"/>
            <a:ext cx="5047130" cy="16764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ЦЕЛЬ:</a:t>
            </a:r>
            <a:r>
              <a:rPr lang="ru-RU" dirty="0" smtClean="0">
                <a:solidFill>
                  <a:schemeClr val="tx1"/>
                </a:solidFill>
              </a:rPr>
              <a:t> Разработать базу данных для автоматизации процесса составления и ведения расписания занятий в учебном заведении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18889" y="3056965"/>
            <a:ext cx="5047130" cy="16764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ОБЪЕКТ: </a:t>
            </a:r>
            <a:r>
              <a:rPr lang="ru-RU" dirty="0" smtClean="0">
                <a:solidFill>
                  <a:schemeClr val="tx1"/>
                </a:solidFill>
              </a:rPr>
              <a:t>Учет данных об учебном процессе и распределении занятий в учебном </a:t>
            </a:r>
            <a:r>
              <a:rPr lang="ru-RU" dirty="0" smtClean="0">
                <a:solidFill>
                  <a:schemeClr val="tx1"/>
                </a:solidFill>
              </a:rPr>
              <a:t>заведении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781114" y="5000065"/>
            <a:ext cx="5047130" cy="16764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ПРЕДМЕТ ИССЛЕДОВАНИЯ: 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Процесс </a:t>
            </a:r>
            <a:r>
              <a:rPr lang="ru-RU" dirty="0" smtClean="0">
                <a:solidFill>
                  <a:schemeClr val="tx1"/>
                </a:solidFill>
              </a:rPr>
              <a:t>проектирования и разработки базы данных, а также программных средств для управления, хранения и автоматизированного формирования расписания занятий.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 rot="9000000">
            <a:off x="-2178928" y="2460984"/>
            <a:ext cx="16421568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 rot="9000000">
            <a:off x="-2130152" y="2865964"/>
            <a:ext cx="16421568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602428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 smtClean="0"/>
              <a:t>Задачи проекта</a:t>
            </a:r>
            <a:r>
              <a:rPr lang="ru-RU" sz="2800" b="1" dirty="0" smtClean="0"/>
              <a:t>:</a:t>
            </a:r>
            <a:endParaRPr lang="ru-RU" sz="28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46904" y="1994274"/>
            <a:ext cx="5258921" cy="3869951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Провести </a:t>
            </a:r>
            <a:r>
              <a:rPr lang="ru-RU" dirty="0" smtClean="0">
                <a:solidFill>
                  <a:schemeClr val="tx1"/>
                </a:solidFill>
              </a:rPr>
              <a:t>анализ предметной </a:t>
            </a:r>
            <a:r>
              <a:rPr lang="ru-RU" dirty="0" smtClean="0">
                <a:solidFill>
                  <a:schemeClr val="tx1"/>
                </a:solidFill>
              </a:rPr>
              <a:t>области</a:t>
            </a:r>
          </a:p>
          <a:p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Выполнить концептуальное проектирование (ER-модель</a:t>
            </a:r>
            <a:r>
              <a:rPr lang="ru-RU" dirty="0" smtClean="0">
                <a:solidFill>
                  <a:schemeClr val="tx1"/>
                </a:solidFill>
              </a:rPr>
              <a:t>)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 </a:t>
            </a:r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Разработать логическую и физическую модели БД </a:t>
            </a:r>
            <a:endParaRPr lang="ru-RU" dirty="0" smtClean="0">
              <a:solidFill>
                <a:schemeClr val="tx1"/>
              </a:solidFill>
            </a:endParaRPr>
          </a:p>
          <a:p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Реализовать базу данных в MS SQL </a:t>
            </a:r>
            <a:r>
              <a:rPr lang="ru-RU" dirty="0" smtClean="0">
                <a:solidFill>
                  <a:schemeClr val="tx1"/>
                </a:solidFill>
              </a:rPr>
              <a:t>Server</a:t>
            </a:r>
          </a:p>
          <a:p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Создать пользовательский интерфейс на WPF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395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hape 32"/>
          <p:cNvCxnSpPr>
            <a:stCxn id="8" idx="1"/>
            <a:endCxn id="11" idx="0"/>
          </p:cNvCxnSpPr>
          <p:nvPr/>
        </p:nvCxnSpPr>
        <p:spPr>
          <a:xfrm rot="10800000" flipV="1">
            <a:off x="2322109" y="4298575"/>
            <a:ext cx="878293" cy="1338234"/>
          </a:xfrm>
          <a:prstGeom prst="curvedConnector5">
            <a:avLst>
              <a:gd name="adj1" fmla="val 18437"/>
              <a:gd name="adj2" fmla="val 3173"/>
              <a:gd name="adj3" fmla="val 73972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hape 23"/>
          <p:cNvCxnSpPr>
            <a:stCxn id="5" idx="3"/>
            <a:endCxn id="11" idx="0"/>
          </p:cNvCxnSpPr>
          <p:nvPr/>
        </p:nvCxnSpPr>
        <p:spPr>
          <a:xfrm flipH="1">
            <a:off x="2322108" y="1268504"/>
            <a:ext cx="8668623" cy="4368305"/>
          </a:xfrm>
          <a:prstGeom prst="curvedConnector3">
            <a:avLst>
              <a:gd name="adj1" fmla="val -2637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hape 13"/>
          <p:cNvCxnSpPr>
            <a:stCxn id="3" idx="2"/>
            <a:endCxn id="11" idx="0"/>
          </p:cNvCxnSpPr>
          <p:nvPr/>
        </p:nvCxnSpPr>
        <p:spPr>
          <a:xfrm rot="5400000">
            <a:off x="736226" y="3629833"/>
            <a:ext cx="3592859" cy="421093"/>
          </a:xfrm>
          <a:prstGeom prst="curvedConnector4">
            <a:avLst>
              <a:gd name="adj1" fmla="val 3053"/>
              <a:gd name="adj2" fmla="val 361982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0"/>
            <a:ext cx="69655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800" b="1" dirty="0" smtClean="0">
                <a:cs typeface="Times New Roman" pitchFamily="18" charset="0"/>
              </a:rPr>
              <a:t>Использованные технические </a:t>
            </a:r>
            <a:r>
              <a:rPr lang="ru-RU" sz="2800" b="1" dirty="0" smtClean="0">
                <a:cs typeface="Times New Roman" pitchFamily="18" charset="0"/>
              </a:rPr>
              <a:t>средства:</a:t>
            </a:r>
            <a:endParaRPr lang="ru-RU" sz="2800" b="1" dirty="0">
              <a:cs typeface="Times New Roman" pitchFamily="18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33083" y="546845"/>
            <a:ext cx="5020236" cy="1497105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СУБД: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SQL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Server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(выбрана за надежность и интеграцию с .NET)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Анатолий\Downloads\sqlserver-c0e2f1c3b95969de0089f8c4eb41585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460" y="2195868"/>
            <a:ext cx="4141693" cy="1044890"/>
          </a:xfrm>
          <a:prstGeom prst="rect">
            <a:avLst/>
          </a:prstGeom>
          <a:noFill/>
        </p:spPr>
      </p:pic>
      <p:sp>
        <p:nvSpPr>
          <p:cNvPr id="5" name="Скругленный прямоугольник 4"/>
          <p:cNvSpPr/>
          <p:nvPr/>
        </p:nvSpPr>
        <p:spPr>
          <a:xfrm>
            <a:off x="5970495" y="519951"/>
            <a:ext cx="5020236" cy="1497105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СРЕДА РАЗРАБОТКИ: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VISUAL STUDIO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2022/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Язык программирования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C#</a:t>
            </a: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Анатолий\Downloads\Logo_C_sharp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2345" y="2106705"/>
            <a:ext cx="1155701" cy="1300482"/>
          </a:xfrm>
          <a:prstGeom prst="rect">
            <a:avLst/>
          </a:prstGeom>
          <a:noFill/>
        </p:spPr>
      </p:pic>
      <p:pic>
        <p:nvPicPr>
          <p:cNvPr id="1028" name="Picture 4" descr="C:\Users\Анатолий\Downloads\Visual_Studio_Icon_2026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5236" y="2079812"/>
            <a:ext cx="1290918" cy="1290918"/>
          </a:xfrm>
          <a:prstGeom prst="rect">
            <a:avLst/>
          </a:prstGeom>
          <a:noFill/>
        </p:spPr>
      </p:pic>
      <p:sp>
        <p:nvSpPr>
          <p:cNvPr id="8" name="Скругленный прямоугольник 7"/>
          <p:cNvSpPr/>
          <p:nvPr/>
        </p:nvSpPr>
        <p:spPr>
          <a:xfrm>
            <a:off x="3200401" y="3550022"/>
            <a:ext cx="5020236" cy="1497105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ТЕХНОЛОГИИ: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платформа .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NET Framework,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Server Management Studio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управлением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БД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 descr="C:\Users\Анатолий\Downloads\Microsoft_.NET_logo.svg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0342" y="5190565"/>
            <a:ext cx="1532964" cy="1532964"/>
          </a:xfrm>
          <a:prstGeom prst="rect">
            <a:avLst/>
          </a:prstGeom>
          <a:noFill/>
        </p:spPr>
      </p:pic>
      <p:pic>
        <p:nvPicPr>
          <p:cNvPr id="1030" name="Picture 6" descr="C:\Users\Анатолий\Downloads\SSMSv21Log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49471" y="5163671"/>
            <a:ext cx="1568823" cy="156882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 rot="2700000">
            <a:off x="-6490451" y="5387545"/>
            <a:ext cx="16421568" cy="17020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 rot="2700000">
            <a:off x="-6556210" y="5772051"/>
            <a:ext cx="16421568" cy="8714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9287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Прямоугольник 237"/>
          <p:cNvSpPr/>
          <p:nvPr/>
        </p:nvSpPr>
        <p:spPr>
          <a:xfrm rot="18900000">
            <a:off x="1840748" y="5556638"/>
            <a:ext cx="16421568" cy="17020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239" name="Прямоугольник 238"/>
          <p:cNvSpPr/>
          <p:nvPr/>
        </p:nvSpPr>
        <p:spPr>
          <a:xfrm rot="18900000">
            <a:off x="1774989" y="5941144"/>
            <a:ext cx="16421568" cy="8714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Физическая </a:t>
            </a:r>
            <a:r>
              <a:rPr lang="ru-RU" sz="2800" b="1" dirty="0" smtClean="0"/>
              <a:t>схема данных</a:t>
            </a:r>
            <a:endParaRPr lang="ru-RU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052821" y="838479"/>
            <a:ext cx="8167503" cy="53370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9230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544786"/>
            <a:ext cx="12192000" cy="220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952750"/>
            <a:ext cx="12192000" cy="14562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 bwMode="auto">
          <a:xfrm>
            <a:off x="678142" y="1781175"/>
            <a:ext cx="5120716" cy="3429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086475" y="1870424"/>
            <a:ext cx="5484469" cy="330165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0"/>
            <a:ext cx="681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Разработка интерфейса пользователя №1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85925" y="5381625"/>
            <a:ext cx="3190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авторизации</a:t>
            </a:r>
            <a:endParaRPr lang="ru-RU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677150" y="5410200"/>
            <a:ext cx="2666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Основное окно</a:t>
            </a:r>
            <a:endParaRPr lang="ru-RU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544786"/>
            <a:ext cx="12192000" cy="220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952750"/>
            <a:ext cx="12192000" cy="14562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681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Разработка интерфейса пользователя №1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00125" y="5372100"/>
            <a:ext cx="438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управления группой</a:t>
            </a:r>
            <a:endParaRPr lang="ru-RU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353175" y="5362575"/>
            <a:ext cx="5076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управления аудиториями</a:t>
            </a:r>
            <a:endParaRPr lang="ru-RU" sz="2800" dirty="0"/>
          </a:p>
        </p:txBody>
      </p:sp>
      <p:pic>
        <p:nvPicPr>
          <p:cNvPr id="11" name="Рисунок 1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9610" y="1657350"/>
            <a:ext cx="4443751" cy="3609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Рисунок 1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6116" y="1588993"/>
            <a:ext cx="4985784" cy="366983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544786"/>
            <a:ext cx="12192000" cy="220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952750"/>
            <a:ext cx="12192000" cy="14562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681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Разработка интерфейса пользователя №3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28750" y="5629275"/>
            <a:ext cx="371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добавлений пар</a:t>
            </a:r>
            <a:endParaRPr lang="ru-RU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48375" y="5400676"/>
            <a:ext cx="5972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с настройкой преподавателей</a:t>
            </a:r>
            <a:endParaRPr lang="ru-RU" sz="2800" b="1" dirty="0"/>
          </a:p>
        </p:txBody>
      </p:sp>
      <p:pic>
        <p:nvPicPr>
          <p:cNvPr id="11" name="Рисунок 1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102" y="1162714"/>
            <a:ext cx="3088347" cy="432368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Рисунок 11"/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372820" y="1662112"/>
            <a:ext cx="5047655" cy="368469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00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Входные, выходные данные для контрольного </a:t>
            </a:r>
            <a:r>
              <a:rPr lang="ru-RU" sz="2800" b="1" dirty="0" smtClean="0"/>
              <a:t>примера:</a:t>
            </a:r>
            <a:endParaRPr lang="ru-RU" sz="28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37084"/>
            <a:ext cx="12192000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2142064"/>
            <a:ext cx="12192000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96875" y="1025860"/>
            <a:ext cx="5532600" cy="47939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009650" y="5953125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Концептуальная модель</a:t>
            </a:r>
            <a:endParaRPr lang="ru-RU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86575" y="5934075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Код для обработки</a:t>
            </a:r>
            <a:endParaRPr lang="ru-RU" sz="2800" b="1" dirty="0"/>
          </a:p>
        </p:txBody>
      </p:sp>
      <p:pic>
        <p:nvPicPr>
          <p:cNvPr id="7170" name="Picture 2" descr="C:\Users\Анатолий\Downloads\carbon.png"/>
          <p:cNvPicPr>
            <a:picLocks noChangeAspect="1" noChangeArrowheads="1"/>
          </p:cNvPicPr>
          <p:nvPr/>
        </p:nvPicPr>
        <p:blipFill>
          <a:blip r:embed="rId3" cstate="print"/>
          <a:srcRect l="5287" t="4213" r="4979" b="4324"/>
          <a:stretch>
            <a:fillRect/>
          </a:stretch>
        </p:blipFill>
        <p:spPr bwMode="auto">
          <a:xfrm>
            <a:off x="7143750" y="676275"/>
            <a:ext cx="4095750" cy="52387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="" xmlns:p14="http://schemas.microsoft.com/office/powerpoint/2010/main" val="351561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737084"/>
            <a:ext cx="12192000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275414"/>
            <a:ext cx="12192000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934670"/>
            <a:ext cx="4019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 smtClean="0"/>
              <a:t>Заключение</a:t>
            </a:r>
            <a:endParaRPr lang="ru-RU" sz="5400" b="1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32230" y="1146550"/>
            <a:ext cx="3619392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Проектирование БД: </a:t>
            </a:r>
            <a:r>
              <a:rPr lang="ru-RU" dirty="0" smtClean="0">
                <a:solidFill>
                  <a:schemeClr val="tx1"/>
                </a:solidFill>
              </a:rPr>
              <a:t>Была сделана реляционная </a:t>
            </a:r>
            <a:r>
              <a:rPr lang="ru-RU" dirty="0" smtClean="0">
                <a:solidFill>
                  <a:schemeClr val="tx1"/>
                </a:solidFill>
              </a:rPr>
              <a:t>база данных в среде MS SQL </a:t>
            </a:r>
            <a:r>
              <a:rPr lang="ru-RU" dirty="0" smtClean="0">
                <a:solidFill>
                  <a:schemeClr val="tx1"/>
                </a:solidFill>
              </a:rPr>
              <a:t>Server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5555" y="3384925"/>
            <a:ext cx="3753970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Автоматизация логики: </a:t>
            </a:r>
            <a:r>
              <a:rPr lang="ru-RU" dirty="0" smtClean="0">
                <a:solidFill>
                  <a:schemeClr val="tx1"/>
                </a:solidFill>
              </a:rPr>
              <a:t>Разработан программный модуль на языке C# (WPF), который автоматически проверяет конфликты при составлении расписания: занятость преподавателей, аудиторий и групп в конкретные временные </a:t>
            </a:r>
            <a:r>
              <a:rPr lang="ru-RU" dirty="0" smtClean="0">
                <a:solidFill>
                  <a:schemeClr val="tx1"/>
                </a:solidFill>
              </a:rPr>
              <a:t>интервалы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694705" y="365500"/>
            <a:ext cx="3619392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Удобство интерфейса: </a:t>
            </a:r>
            <a:r>
              <a:rPr lang="ru-RU" dirty="0" smtClean="0">
                <a:solidFill>
                  <a:schemeClr val="tx1"/>
                </a:solidFill>
              </a:rPr>
              <a:t>Реализована система управления </a:t>
            </a:r>
            <a:r>
              <a:rPr lang="ru-RU" dirty="0" smtClean="0">
                <a:solidFill>
                  <a:schemeClr val="tx1"/>
                </a:solidFill>
              </a:rPr>
              <a:t>расписанием </a:t>
            </a:r>
            <a:r>
              <a:rPr lang="ru-RU" dirty="0" smtClean="0">
                <a:solidFill>
                  <a:schemeClr val="tx1"/>
                </a:solidFill>
              </a:rPr>
              <a:t>(преподаватели, группы, кабинеты) с использованием </a:t>
            </a:r>
            <a:r>
              <a:rPr lang="ru-RU" dirty="0" smtClean="0">
                <a:solidFill>
                  <a:schemeClr val="tx1"/>
                </a:solidFill>
              </a:rPr>
              <a:t>тегов/кафедр, </a:t>
            </a:r>
            <a:r>
              <a:rPr lang="ru-RU" dirty="0" smtClean="0">
                <a:solidFill>
                  <a:schemeClr val="tx1"/>
                </a:solidFill>
              </a:rPr>
              <a:t>что позволяет гибко настраивать систему под нужды </a:t>
            </a:r>
            <a:r>
              <a:rPr lang="ru-RU" dirty="0" smtClean="0">
                <a:solidFill>
                  <a:schemeClr val="tx1"/>
                </a:solidFill>
              </a:rPr>
              <a:t>конкретной группы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438030" y="2603875"/>
            <a:ext cx="3753970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Итог: </a:t>
            </a:r>
            <a:r>
              <a:rPr lang="ru-RU" dirty="0" smtClean="0">
                <a:solidFill>
                  <a:schemeClr val="tx1"/>
                </a:solidFill>
              </a:rPr>
              <a:t>Система которая полностью решает с поставленным требованием с автоматизацией учебной </a:t>
            </a:r>
            <a:r>
              <a:rPr lang="ru-RU" dirty="0" smtClean="0">
                <a:solidFill>
                  <a:schemeClr val="tx1"/>
                </a:solidFill>
              </a:rPr>
              <a:t>нагрузки и может быть использована для повышения эффективности работы диспетчерской </a:t>
            </a:r>
            <a:r>
              <a:rPr lang="ru-RU" smtClean="0">
                <a:solidFill>
                  <a:schemeClr val="tx1"/>
                </a:solidFill>
              </a:rPr>
              <a:t>службы </a:t>
            </a:r>
            <a:r>
              <a:rPr lang="ru-RU" smtClean="0">
                <a:solidFill>
                  <a:schemeClr val="tx1"/>
                </a:solidFill>
              </a:rPr>
              <a:t>вуза</a:t>
            </a:r>
            <a:endParaRPr lang="ru-RU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8783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271</Words>
  <Application>Microsoft Office PowerPoint</Application>
  <PresentationFormat>Произвольный</PresentationFormat>
  <Paragraphs>44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Курсовой проект Разработка базы данных информационной системы «Расписание в вузе»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базы данных информационной системы «Справочник кинофильмов»</dc:title>
  <dc:creator>Пользователь Windows</dc:creator>
  <cp:lastModifiedBy>Анатолий</cp:lastModifiedBy>
  <cp:revision>42</cp:revision>
  <dcterms:created xsi:type="dcterms:W3CDTF">2026-02-24T12:01:41Z</dcterms:created>
  <dcterms:modified xsi:type="dcterms:W3CDTF">2026-02-27T02:40:23Z</dcterms:modified>
</cp:coreProperties>
</file>