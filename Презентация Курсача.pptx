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330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9815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6702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3646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250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3568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74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339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56572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6185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4636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30312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A0364-9678-4EB8-9394-088FB36AD65B}" type="datetimeFigureOut">
              <a:rPr lang="ru-RU" smtClean="0"/>
              <a:pPr/>
              <a:t>24.02.2026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60901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13646" y="1030940"/>
            <a:ext cx="9036425" cy="2680447"/>
          </a:xfrm>
        </p:spPr>
        <p:txBody>
          <a:bodyPr anchor="ctr">
            <a:noAutofit/>
          </a:bodyPr>
          <a:lstStyle/>
          <a:p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Курсовой проект</a:t>
            </a:r>
            <a:br>
              <a:rPr lang="ru-RU" sz="4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базы данных информационной системы </a:t>
            </a:r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«Расписание в вузе»</a:t>
            </a:r>
            <a:endParaRPr lang="ru-RU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4775662"/>
            <a:ext cx="9144000" cy="2082338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по </a:t>
            </a:r>
            <a:r>
              <a:rPr lang="ru-RU" dirty="0" smtClean="0"/>
              <a:t>дисциплине «Технология разработки и защиты баз данных»</a:t>
            </a:r>
          </a:p>
          <a:p>
            <a:pPr algn="l"/>
            <a:r>
              <a:rPr lang="ru-RU" dirty="0" smtClean="0"/>
              <a:t>Выполнил: Шаяхметов Анатолий </a:t>
            </a:r>
            <a:r>
              <a:rPr lang="ru-RU" dirty="0" smtClean="0"/>
              <a:t>Рамисович</a:t>
            </a:r>
            <a:endParaRPr lang="ru-RU" dirty="0" smtClean="0"/>
          </a:p>
          <a:p>
            <a:pPr algn="l"/>
            <a:r>
              <a:rPr lang="ru-RU" dirty="0" smtClean="0"/>
              <a:t>Группа: ИСП-Б-234-2024</a:t>
            </a:r>
          </a:p>
          <a:p>
            <a:pPr algn="l"/>
            <a:r>
              <a:rPr lang="ru-RU" dirty="0" smtClean="0"/>
              <a:t>Руководитель: Шадрин Евгений Николаевич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9616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2428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 smtClean="0"/>
              <a:t>Цели и </a:t>
            </a:r>
            <a:r>
              <a:rPr lang="ru-RU" sz="2800" b="1" dirty="0" smtClean="0"/>
              <a:t>задачи проекта:</a:t>
            </a:r>
            <a:endParaRPr lang="ru-RU" sz="2800" b="1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70964" y="923365"/>
            <a:ext cx="5047130" cy="1676400"/>
          </a:xfrm>
          <a:prstGeom prst="roundRect">
            <a:avLst/>
          </a:prstGeom>
          <a:noFill/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ЦЕЛЬ: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Разработать базу данных для автоматизации процесса составления и ведения расписания занятий в учебном заведении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79929" y="2788025"/>
            <a:ext cx="5047130" cy="3908610"/>
          </a:xfrm>
          <a:prstGeom prst="roundRect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ЗАДАЧИ: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Провести </a:t>
            </a:r>
            <a:r>
              <a:rPr lang="ru-RU" dirty="0" smtClean="0">
                <a:solidFill>
                  <a:schemeClr val="tx1"/>
                </a:solidFill>
              </a:rPr>
              <a:t>анализ предметной </a:t>
            </a:r>
            <a:r>
              <a:rPr lang="ru-RU" dirty="0" smtClean="0">
                <a:solidFill>
                  <a:schemeClr val="tx1"/>
                </a:solidFill>
              </a:rPr>
              <a:t>области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Выполнить </a:t>
            </a:r>
            <a:r>
              <a:rPr lang="ru-RU" dirty="0" smtClean="0">
                <a:solidFill>
                  <a:schemeClr val="tx1"/>
                </a:solidFill>
              </a:rPr>
              <a:t>концептуальное проектирование (ER-модель) 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Разработать логическую </a:t>
            </a:r>
            <a:r>
              <a:rPr lang="ru-RU" dirty="0" smtClean="0">
                <a:solidFill>
                  <a:schemeClr val="tx1"/>
                </a:solidFill>
              </a:rPr>
              <a:t>и физическую модели БД 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Реализовать </a:t>
            </a:r>
            <a:r>
              <a:rPr lang="ru-RU" dirty="0" smtClean="0">
                <a:solidFill>
                  <a:schemeClr val="tx1"/>
                </a:solidFill>
              </a:rPr>
              <a:t>базу данных в MS SQL </a:t>
            </a:r>
            <a:r>
              <a:rPr lang="ru-RU" dirty="0" smtClean="0">
                <a:solidFill>
                  <a:schemeClr val="tx1"/>
                </a:solidFill>
              </a:rPr>
              <a:t>Server</a:t>
            </a:r>
            <a:endParaRPr lang="ru-RU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</a:rPr>
              <a:t>Создать </a:t>
            </a:r>
            <a:r>
              <a:rPr lang="ru-RU" dirty="0" smtClean="0">
                <a:solidFill>
                  <a:schemeClr val="tx1"/>
                </a:solidFill>
              </a:rPr>
              <a:t>пользовательский интерфейс на WPF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395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9655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800" b="1" dirty="0" smtClean="0">
                <a:cs typeface="Times New Roman" pitchFamily="18" charset="0"/>
              </a:rPr>
              <a:t>Использованные технические </a:t>
            </a:r>
            <a:r>
              <a:rPr lang="ru-RU" sz="2800" b="1" dirty="0" smtClean="0">
                <a:cs typeface="Times New Roman" pitchFamily="18" charset="0"/>
              </a:rPr>
              <a:t>средства</a:t>
            </a:r>
            <a:endParaRPr lang="ru-RU" sz="2800" b="1" dirty="0">
              <a:cs typeface="Times New Roman" pitchFamily="18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33083" y="546845"/>
            <a:ext cx="5020236" cy="1497105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СУБД: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(выбрана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 надежность и интеграцию с .NET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Анатолий\Downloads\sqlserver-c0e2f1c3b95969de0089f8c4eb41585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460" y="2195868"/>
            <a:ext cx="4141693" cy="1044890"/>
          </a:xfrm>
          <a:prstGeom prst="rect">
            <a:avLst/>
          </a:prstGeom>
          <a:noFill/>
        </p:spPr>
      </p:pic>
      <p:sp>
        <p:nvSpPr>
          <p:cNvPr id="5" name="Скругленный прямоугольник 4"/>
          <p:cNvSpPr/>
          <p:nvPr/>
        </p:nvSpPr>
        <p:spPr>
          <a:xfrm>
            <a:off x="5970495" y="519951"/>
            <a:ext cx="5020236" cy="1497105"/>
          </a:xfrm>
          <a:prstGeom prst="roundRect">
            <a:avLst/>
          </a:prstGeom>
          <a:noFill/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 РАЗРАБОТКИ: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VISUAL STUDIO 2026,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 программирования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C#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Анатолий\Downloads\Logo_C_sharp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2345" y="2106705"/>
            <a:ext cx="1155701" cy="1300482"/>
          </a:xfrm>
          <a:prstGeom prst="rect">
            <a:avLst/>
          </a:prstGeom>
          <a:noFill/>
        </p:spPr>
      </p:pic>
      <p:pic>
        <p:nvPicPr>
          <p:cNvPr id="1028" name="Picture 4" descr="C:\Users\Анатолий\Downloads\Visual_Studio_Icon_2026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5236" y="2079812"/>
            <a:ext cx="1290918" cy="1290918"/>
          </a:xfrm>
          <a:prstGeom prst="rect">
            <a:avLst/>
          </a:prstGeom>
          <a:noFill/>
        </p:spPr>
      </p:pic>
      <p:sp>
        <p:nvSpPr>
          <p:cNvPr id="8" name="Скругленный прямоугольник 7"/>
          <p:cNvSpPr/>
          <p:nvPr/>
        </p:nvSpPr>
        <p:spPr>
          <a:xfrm>
            <a:off x="3200401" y="3550022"/>
            <a:ext cx="5020236" cy="1497105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ТЕХНОЛОГИИ: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платформа .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 Framework,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Server Management Studio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для администрирования БД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 descr="C:\Users\Анатолий\Downloads\Microsoft_.NET_logo.svg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0342" y="5190565"/>
            <a:ext cx="1532964" cy="1532964"/>
          </a:xfrm>
          <a:prstGeom prst="rect">
            <a:avLst/>
          </a:prstGeom>
          <a:noFill/>
        </p:spPr>
      </p:pic>
      <p:pic>
        <p:nvPicPr>
          <p:cNvPr id="1030" name="Picture 6" descr="C:\Users\Анатолий\Downloads\SSMSv21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49471" y="5163671"/>
            <a:ext cx="1568823" cy="15688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9287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891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Физическая </a:t>
            </a:r>
            <a:r>
              <a:rPr lang="ru-RU" sz="2800" b="1" dirty="0" smtClean="0"/>
              <a:t>схема данных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304" y="552730"/>
            <a:ext cx="9897828" cy="3445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144121" y="3995678"/>
            <a:ext cx="93905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b="1" dirty="0" smtClean="0"/>
              <a:t> </a:t>
            </a:r>
            <a:r>
              <a:rPr lang="en-US" b="1" dirty="0" smtClean="0"/>
              <a:t>Users (</a:t>
            </a:r>
            <a:r>
              <a:rPr lang="ru-RU" b="1" dirty="0" smtClean="0"/>
              <a:t>Пользователи</a:t>
            </a:r>
            <a:r>
              <a:rPr lang="en-US" b="1" dirty="0" smtClean="0"/>
              <a:t>)</a:t>
            </a:r>
            <a:r>
              <a:rPr lang="ru-RU" dirty="0" smtClean="0"/>
              <a:t> </a:t>
            </a:r>
            <a:r>
              <a:rPr lang="ru-RU" dirty="0" smtClean="0"/>
              <a:t>— Хранит информацию о пользователях которые могут входить в приложение</a:t>
            </a:r>
          </a:p>
          <a:p>
            <a:pPr>
              <a:buFont typeface="Arial" pitchFamily="34" charset="0"/>
              <a:buChar char="•"/>
            </a:pPr>
            <a:r>
              <a:rPr lang="ru-RU" b="1" dirty="0" smtClean="0"/>
              <a:t> </a:t>
            </a:r>
            <a:r>
              <a:rPr lang="en-US" b="1" dirty="0" smtClean="0"/>
              <a:t>Groups (</a:t>
            </a:r>
            <a:r>
              <a:rPr lang="ru-RU" b="1" dirty="0" smtClean="0"/>
              <a:t>Группы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— Содержит информацию о «Группах/Специальностях» их номер и название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en-US" b="1" dirty="0" smtClean="0"/>
              <a:t>Schedules (</a:t>
            </a:r>
            <a:r>
              <a:rPr lang="ru-RU" b="1" dirty="0" smtClean="0"/>
              <a:t>Расписание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— Хранит в себе информацию о расписании т.е </a:t>
            </a:r>
            <a:r>
              <a:rPr lang="en-US" dirty="0" smtClean="0"/>
              <a:t>ID</a:t>
            </a:r>
            <a:r>
              <a:rPr lang="ru-RU" dirty="0" smtClean="0"/>
              <a:t> пре</a:t>
            </a:r>
            <a:r>
              <a:rPr lang="ru-RU" dirty="0" smtClean="0"/>
              <a:t>д</a:t>
            </a:r>
            <a:r>
              <a:rPr lang="ru-RU" dirty="0" smtClean="0"/>
              <a:t>мета, день недели, номер пары, </a:t>
            </a:r>
            <a:r>
              <a:rPr lang="en-US" dirty="0" smtClean="0"/>
              <a:t>ID</a:t>
            </a:r>
            <a:r>
              <a:rPr lang="ru-RU" dirty="0" smtClean="0"/>
              <a:t> группы, </a:t>
            </a:r>
            <a:r>
              <a:rPr lang="en-US" dirty="0" smtClean="0"/>
              <a:t>ID</a:t>
            </a:r>
            <a:r>
              <a:rPr lang="ru-RU" dirty="0" smtClean="0"/>
              <a:t> преподавателя, </a:t>
            </a:r>
            <a:r>
              <a:rPr lang="en-US" dirty="0" smtClean="0"/>
              <a:t>ID</a:t>
            </a:r>
            <a:r>
              <a:rPr lang="ru-RU" dirty="0" smtClean="0"/>
              <a:t> комнаты, название занятия и дату занятия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 Rooms (</a:t>
            </a:r>
            <a:r>
              <a:rPr lang="ru-RU" b="1" dirty="0" smtClean="0"/>
              <a:t>Комнаты/Кабинеты</a:t>
            </a:r>
            <a:r>
              <a:rPr lang="en-US" b="1" dirty="0" smtClean="0"/>
              <a:t>)</a:t>
            </a:r>
            <a:r>
              <a:rPr lang="ru-RU" b="1" dirty="0" smtClean="0"/>
              <a:t> </a:t>
            </a:r>
            <a:r>
              <a:rPr lang="ru-RU" dirty="0" smtClean="0"/>
              <a:t>— Хранит в себе </a:t>
            </a:r>
            <a:r>
              <a:rPr lang="en-US" dirty="0" smtClean="0"/>
              <a:t>ID </a:t>
            </a:r>
            <a:r>
              <a:rPr lang="ru-RU" dirty="0" smtClean="0"/>
              <a:t>комнаты и номер комнаты</a:t>
            </a:r>
          </a:p>
          <a:p>
            <a:pPr>
              <a:buFont typeface="Arial" pitchFamily="34" charset="0"/>
              <a:buChar char="•"/>
            </a:pPr>
            <a:r>
              <a:rPr lang="ru-RU" b="1" dirty="0" smtClean="0"/>
              <a:t> </a:t>
            </a:r>
            <a:r>
              <a:rPr lang="en-US" b="1" dirty="0" smtClean="0"/>
              <a:t>Lecturers (</a:t>
            </a:r>
            <a:r>
              <a:rPr lang="ru-RU" b="1" dirty="0" smtClean="0"/>
              <a:t>Преподаватели</a:t>
            </a:r>
            <a:r>
              <a:rPr lang="en-US" b="1" dirty="0" smtClean="0"/>
              <a:t>)</a:t>
            </a:r>
            <a:r>
              <a:rPr lang="ru-RU" b="1" dirty="0" smtClean="0"/>
              <a:t> — </a:t>
            </a:r>
            <a:r>
              <a:rPr lang="ru-RU" dirty="0" smtClean="0"/>
              <a:t>Содержит информацию о </a:t>
            </a:r>
            <a:r>
              <a:rPr lang="en-US" dirty="0" smtClean="0"/>
              <a:t>ID </a:t>
            </a:r>
            <a:r>
              <a:rPr lang="ru-RU" dirty="0" smtClean="0"/>
              <a:t>преподавателя, его ПОЛНОМ имени и о его дисциплинах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159230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00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Входные, выходные данные для контрольного примера </a:t>
            </a:r>
            <a:r>
              <a:rPr lang="ru-RU" sz="2800" b="1" dirty="0" smtClean="0"/>
              <a:t>(</a:t>
            </a:r>
            <a:r>
              <a:rPr lang="en-US" sz="2800" b="1" dirty="0" smtClean="0"/>
              <a:t>SQL</a:t>
            </a:r>
            <a:r>
              <a:rPr lang="ru-RU" sz="2800" b="1" dirty="0" smtClean="0"/>
              <a:t> </a:t>
            </a:r>
            <a:r>
              <a:rPr lang="ru-RU" sz="2800" b="1" dirty="0" smtClean="0"/>
              <a:t>запрос)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xmlns="" val="351561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93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Заключение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xmlns="" val="21878323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201</Words>
  <Application>Microsoft Office PowerPoint</Application>
  <PresentationFormat>Произвольный</PresentationFormat>
  <Paragraphs>27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Курсовой проект Разработка базы данных информационной системы «Расписание в вузе»</vt:lpstr>
      <vt:lpstr>Слайд 2</vt:lpstr>
      <vt:lpstr>Слайд 3</vt:lpstr>
      <vt:lpstr>Слайд 4</vt:lpstr>
      <vt:lpstr>Слайд 5</vt:lpstr>
      <vt:lpstr>Слайд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базы данных информационной системы «Справочник кинофильмов»</dc:title>
  <dc:creator>Пользователь Windows</dc:creator>
  <cp:lastModifiedBy>Анатолий</cp:lastModifiedBy>
  <cp:revision>11</cp:revision>
  <dcterms:created xsi:type="dcterms:W3CDTF">2026-02-24T12:01:41Z</dcterms:created>
  <dcterms:modified xsi:type="dcterms:W3CDTF">2026-02-24T15:18:25Z</dcterms:modified>
</cp:coreProperties>
</file>